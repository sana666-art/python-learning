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JetBrains Mono"/>
      <p:bold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Plus Jakarta Sans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303115"/>
            <a:ext cx="3390900" cy="323850"/>
          </a:xfrm>
          <a:prstGeom prst="rect">
            <a:avLst/>
          </a:prstGeom>
          <a:solidFill>
            <a:srgbClr val="32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303115"/>
            <a:ext cx="38100" cy="323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90825" y="4426148"/>
            <a:ext cx="57150" cy="5715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359473"/>
            <a:ext cx="17145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575" y="4368998"/>
            <a:ext cx="219075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2855565"/>
            <a:ext cx="7813476" cy="61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>
                <a:solidFill>
                  <a:srgbClr val="F8FAFC"/>
                </a:solidFill>
                <a:latin typeface="Plus Jakarta Sans"/>
              </a:rPr>
              <a:t>Introduction to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659385"/>
            <a:ext cx="728662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What it is, why it matters, and how to run your first program.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379315"/>
            <a:ext cx="381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59E0B"/>
                </a:solidFill>
                <a:latin typeface="Plus Jakarta Sans"/>
              </a:rPr>
              <a:t>PYTHON PROGRAMMING 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354710"/>
            <a:ext cx="21074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Python 3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900" y="4354710"/>
            <a:ext cx="20359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13 Interactive 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43150"/>
            <a:ext cx="2571750" cy="3152775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343150"/>
            <a:ext cx="2571750" cy="3152775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343150"/>
            <a:ext cx="2571750" cy="3152775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343150"/>
            <a:ext cx="2571750" cy="3152775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65747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265747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2657475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4975" y="2657475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462" y="2781300"/>
            <a:ext cx="23812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2387" y="2781300"/>
            <a:ext cx="18097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9875" y="2781300"/>
            <a:ext cx="26670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34512" y="2781300"/>
            <a:ext cx="23812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What is Python?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305175"/>
            <a:ext cx="214026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High-Level 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3895725"/>
            <a:ext cx="203835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General-purpose language designed for supreme code readability and developer efficiency.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4275" y="3305175"/>
            <a:ext cx="255031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Created in 1991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4275" y="3657600"/>
            <a:ext cx="20383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Designed by Guido van Rossum as a successor to the ABC language with clean syntax.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4625" y="3305175"/>
            <a:ext cx="255031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Free &amp; Open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4625" y="3657600"/>
            <a:ext cx="20383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Backed by a massive worldwide open-source community and rich ecosystem.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4975" y="3305175"/>
            <a:ext cx="255031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Cross-Platform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4975" y="3657600"/>
            <a:ext cx="20383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Runs seamlessly across Windows, macOS, Linux, and embedded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452937"/>
            <a:ext cx="10972800" cy="6096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38437"/>
            <a:ext cx="2600325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0425" y="2738437"/>
            <a:ext cx="2600325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2738437"/>
            <a:ext cx="2600325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82075" y="2738437"/>
            <a:ext cx="2600325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452937"/>
            <a:ext cx="38100" cy="609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625" y="4643437"/>
            <a:ext cx="2571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014662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8550" y="3014662"/>
            <a:ext cx="2190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3014662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0200" y="3014662"/>
            <a:ext cx="23812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DOMAINS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Where Python is 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4648200"/>
            <a:ext cx="94297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One versatile language powering modern software engineering across every major industry.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328987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Web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624262"/>
            <a:ext cx="26550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Django, Flask, 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8550" y="3328987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Data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8550" y="3624262"/>
            <a:ext cx="26550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pandas, NumPy, Matplotlib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3328987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AI &amp; Machine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3624262"/>
            <a:ext cx="26550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PyTorch, TensorFlow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0200" y="3328987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Automation &amp;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200" y="3624262"/>
            <a:ext cx="22193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Scripting, Scientific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5137"/>
            <a:ext cx="53721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995737"/>
            <a:ext cx="53721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905125"/>
            <a:ext cx="53721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3895725"/>
            <a:ext cx="5372100" cy="1038225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33737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4224337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3133725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4224337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975" y="3338512"/>
            <a:ext cx="1905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4329112"/>
            <a:ext cx="1524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9387" y="3238500"/>
            <a:ext cx="219075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4329112"/>
            <a:ext cx="1714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ADVANTAGES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Why Python is Popular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9225" y="3205162"/>
            <a:ext cx="50881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Top-Ranked Worldwide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9225" y="3443287"/>
            <a:ext cx="48458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Consistently #1 on TIOBE and Stack Overflow surveys.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9225" y="4195762"/>
            <a:ext cx="566320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Readable Syntax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9225" y="4433887"/>
            <a:ext cx="5393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Clean, expressive syntax that reads almost like plain English.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9925" y="3105150"/>
            <a:ext cx="502562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Short Learning Curve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9925" y="3343275"/>
            <a:ext cx="47863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Minimal syntax overhead makes it ideal for beginners.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9925" y="4095750"/>
            <a:ext cx="51720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Huge Job 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9925" y="4333875"/>
            <a:ext cx="4419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Unmatched employer demand across tech startups and enterprise.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053012"/>
            <a:ext cx="10972800" cy="542925"/>
          </a:xfrm>
          <a:prstGeom prst="roundRect">
            <a:avLst>
              <a:gd name="adj" fmla="val 2105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14362" y="2709862"/>
            <a:ext cx="2740818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355181" y="2709862"/>
            <a:ext cx="4111228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66409" y="2709862"/>
            <a:ext cx="4111228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4362" y="3238500"/>
            <a:ext cx="27408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355181" y="3238500"/>
            <a:ext cx="41112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66409" y="3238500"/>
            <a:ext cx="41112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4362" y="3762375"/>
            <a:ext cx="27408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55181" y="3762375"/>
            <a:ext cx="41112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66409" y="3762375"/>
            <a:ext cx="41112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4362" y="4286250"/>
            <a:ext cx="27408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55181" y="4286250"/>
            <a:ext cx="41112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66409" y="4286250"/>
            <a:ext cx="41112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09600" y="2205037"/>
            <a:ext cx="10972800" cy="26193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09600" y="2205037"/>
          <a:ext cx="10963274" cy="2619375"/>
        </p:xfrm>
        <a:graphic>
          <a:graphicData uri="http://schemas.openxmlformats.org/drawingml/2006/table">
            <a:tbl>
              <a:tblPr/>
              <a:tblGrid>
                <a:gridCol w="2740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1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Feature / Concept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Python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Python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End of life (2020)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Active &amp; Current standard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print Statement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print "hi"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print("hi")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Division (7 / 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3 (Integer division)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3.5</a:t>
                      </a:r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 (Float division)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Input 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raw_input()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input()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VERSION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Python 2 vs Python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232171" y="5214937"/>
            <a:ext cx="12656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6A34A"/>
                </a:solidFill>
                <a:latin typeface="Plus Jakarta Sans"/>
              </a:rPr>
              <a:t>Rule of Thumb: Learn Python 3 only. Python 2 is obsolete.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47912"/>
            <a:ext cx="3530500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600" y="2347912"/>
            <a:ext cx="3530649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750" y="2347912"/>
            <a:ext cx="3530500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995737"/>
            <a:ext cx="3530500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30600" y="3995737"/>
            <a:ext cx="3530649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51750" y="3995737"/>
            <a:ext cx="3530500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586037"/>
            <a:ext cx="30542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725" y="2586037"/>
            <a:ext cx="3054399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875" y="2586037"/>
            <a:ext cx="30542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233862"/>
            <a:ext cx="30542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725" y="4233862"/>
            <a:ext cx="3054399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875" y="4233862"/>
            <a:ext cx="305425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LANGUAGE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Key Features of 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890837"/>
            <a:ext cx="400870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Easy to 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167062"/>
            <a:ext cx="3149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Intuitive syntax focusing on human readability.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8725" y="2890837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High-Level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8725" y="3167062"/>
            <a:ext cx="31496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Abstracts away hardware memory management.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9875" y="2890837"/>
            <a:ext cx="390212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Interpreted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9875" y="3167062"/>
            <a:ext cx="3149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Executes code line-by-line without manual compilation.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4538662"/>
            <a:ext cx="400870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Dynamically Typed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4814887"/>
            <a:ext cx="3149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Variables bind automatically without explicit type labels.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8725" y="4538662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Object-Oriented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8725" y="4814887"/>
            <a:ext cx="31496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Treats data structures and functions as unified objects.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9875" y="4538662"/>
            <a:ext cx="390212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Standard Library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9875" y="4814887"/>
            <a:ext cx="3149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Batteries-included modules built directly into Python.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09875"/>
            <a:ext cx="3505200" cy="2219325"/>
          </a:xfrm>
          <a:prstGeom prst="roundRect">
            <a:avLst>
              <a:gd name="adj" fmla="val 68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09875"/>
            <a:ext cx="3505200" cy="2219325"/>
          </a:xfrm>
          <a:prstGeom prst="roundRect">
            <a:avLst>
              <a:gd name="adj" fmla="val 68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09875"/>
            <a:ext cx="3505200" cy="2219325"/>
          </a:xfrm>
          <a:prstGeom prst="roundRect">
            <a:avLst>
              <a:gd name="adj" fmla="val 68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3925" y="3124200"/>
            <a:ext cx="342900" cy="342900"/>
          </a:xfrm>
          <a:prstGeom prst="roundRect">
            <a:avLst>
              <a:gd name="adj" fmla="val 27777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57725" y="3124200"/>
            <a:ext cx="342900" cy="342900"/>
          </a:xfrm>
          <a:prstGeom prst="roundRect">
            <a:avLst>
              <a:gd name="adj" fmla="val 27777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91525" y="3124200"/>
            <a:ext cx="342900" cy="342900"/>
          </a:xfrm>
          <a:prstGeom prst="roundRect">
            <a:avLst>
              <a:gd name="adj" fmla="val 27777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228725" y="4238625"/>
            <a:ext cx="1828800" cy="238125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57725" y="4238625"/>
            <a:ext cx="2781300" cy="4762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Setup in 3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312420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657600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Install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010025"/>
            <a:ext cx="29718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Download from </a:t>
            </a:r>
            <a:r>
              <a:rPr sz="1200" b="1" i="0" u="none">
                <a:solidFill>
                  <a:srgbClr val="475569"/>
                </a:solidFill>
                <a:latin typeface="Plus Jakarta Sans"/>
              </a:rPr>
              <a:t>python.org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. Ensure you tick 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4850" y="312420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657600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Verify Installation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725" y="4010025"/>
            <a:ext cx="297180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Open your terminal and check installation via command: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8650" y="312420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3657600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Configure 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1525" y="4010025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Install </a:t>
            </a:r>
            <a:r>
              <a:rPr sz="1200" b="1" i="0" u="none">
                <a:solidFill>
                  <a:srgbClr val="475569"/>
                </a:solidFill>
                <a:latin typeface="Plus Jakarta Sans"/>
              </a:rPr>
              <a:t>VS Code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along with the official </a:t>
            </a:r>
            <a:r>
              <a:rPr sz="1200" b="1" i="0" u="none">
                <a:solidFill>
                  <a:srgbClr val="475569"/>
                </a:solidFill>
                <a:latin typeface="Plus Jakarta Sans"/>
              </a:rPr>
              <a:t>Microsoft Python Extension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5875" y="4257675"/>
            <a:ext cx="21717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2563EB"/>
                </a:solidFill>
                <a:latin typeface="JetBrains Mono"/>
              </a:rPr>
              <a:t>Add Python to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4875" y="4257675"/>
            <a:ext cx="27622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0F172A"/>
                </a:solidFill>
                <a:latin typeface="JetBrains Mono"/>
              </a:rPr>
              <a:t>python --version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39330"/>
            <a:ext cx="5324475" cy="1302990"/>
          </a:xfrm>
          <a:prstGeom prst="roundRect">
            <a:avLst>
              <a:gd name="adj" fmla="val 1169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232820"/>
            <a:ext cx="5324475" cy="82867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38725" y="3006030"/>
            <a:ext cx="628650" cy="219075"/>
          </a:xfrm>
          <a:prstGeom prst="roundRect">
            <a:avLst>
              <a:gd name="adj" fmla="val 17391"/>
            </a:avLst>
          </a:prstGeom>
          <a:solidFill>
            <a:srgbClr val="13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686050" y="4642395"/>
            <a:ext cx="1543050" cy="238125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2185987"/>
            <a:ext cx="5343525" cy="3429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195512"/>
            <a:ext cx="5324475" cy="3409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542383"/>
            <a:ext cx="238125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HANDS-ON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Your First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501330"/>
            <a:ext cx="5988843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59E0B"/>
                </a:solidFill>
                <a:latin typeface="JetBrains Mono"/>
              </a:rPr>
              <a:t>print(</a:t>
            </a:r>
            <a:r>
              <a:rPr sz="1350" b="0" i="0" u="none">
                <a:solidFill>
                  <a:srgbClr val="A5F3FC"/>
                </a:solidFill>
                <a:latin typeface="JetBrains Mono"/>
              </a:rPr>
              <a:t>"Hello, World!"</a:t>
            </a:r>
            <a:r>
              <a:rPr sz="1350" b="0" i="0" u="none">
                <a:solidFill>
                  <a:srgbClr val="F59E0B"/>
                </a:solidFill>
                <a:latin typeface="JetBrains Mono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029842"/>
            <a:ext cx="895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JetBrains Mono"/>
              </a:rPr>
              <a:t>hello.py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4925" y="3044130"/>
            <a:ext cx="571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Plus Jakarta Sans"/>
              </a:rPr>
              <a:t>Python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8250" y="4432845"/>
            <a:ext cx="392549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Run Command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8250" y="4651920"/>
            <a:ext cx="373856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Execute in terminal: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661445"/>
            <a:ext cx="1524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JetBrains Mono"/>
              </a:rPr>
              <a:t>python hello.py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90825"/>
            <a:ext cx="3505200" cy="2219325"/>
          </a:xfrm>
          <a:prstGeom prst="roundRect">
            <a:avLst>
              <a:gd name="adj" fmla="val 68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790825"/>
            <a:ext cx="3505200" cy="2219325"/>
          </a:xfrm>
          <a:prstGeom prst="roundRect">
            <a:avLst>
              <a:gd name="adj" fmla="val 68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790825"/>
            <a:ext cx="3505200" cy="2219325"/>
          </a:xfrm>
          <a:prstGeom prst="roundRect">
            <a:avLst>
              <a:gd name="adj" fmla="val 68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5825" y="4257675"/>
            <a:ext cx="2952750" cy="47625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19625" y="4257675"/>
            <a:ext cx="2952750" cy="47625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53425" y="4257675"/>
            <a:ext cx="2952750" cy="47625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SYNTAX DEEP DIVE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Understanding print()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067050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Output Flexibility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419475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Outputs text, numeric variables, or multiple arguments separated by commas.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4410075"/>
            <a:ext cx="2743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Plus Jakarta Sans"/>
              </a:rPr>
              <a:t>print(</a:t>
            </a:r>
            <a:r>
              <a:rPr sz="1050" b="0" i="0" u="none">
                <a:solidFill>
                  <a:srgbClr val="A5F3FC"/>
                </a:solidFill>
                <a:latin typeface="Plus Jakarta Sans"/>
              </a:rPr>
              <a:t>"Score:"</a:t>
            </a:r>
            <a:r>
              <a:rPr sz="1050" b="0" i="0" u="none">
                <a:solidFill>
                  <a:srgbClr val="38BDF8"/>
                </a:solidFill>
                <a:latin typeface="Plus Jakarta Sans"/>
              </a:rPr>
              <a:t>, </a:t>
            </a:r>
            <a:r>
              <a:rPr sz="1050" b="0" i="0" u="none">
                <a:solidFill>
                  <a:srgbClr val="F472B6"/>
                </a:solidFill>
                <a:latin typeface="Plus Jakarta Sans"/>
              </a:rPr>
              <a:t>95</a:t>
            </a:r>
            <a:r>
              <a:rPr sz="1050" b="0" i="0" u="none">
                <a:solidFill>
                  <a:srgbClr val="38BDF8"/>
                </a:solidFill>
                <a:latin typeface="Plus Jakarta Sans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067050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Control Arguments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419475"/>
            <a:ext cx="3048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2563EB"/>
                </a:solidFill>
                <a:latin typeface="Plus Jakarta Sans"/>
              </a:rPr>
              <a:t>sep=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sets argument separators, while </a:t>
            </a:r>
            <a:r>
              <a:rPr sz="1200" b="0" i="0" u="none">
                <a:solidFill>
                  <a:srgbClr val="2563EB"/>
                </a:solidFill>
                <a:latin typeface="Plus Jakarta Sans"/>
              </a:rPr>
              <a:t>end=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customizes line endings.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2025" y="4410075"/>
            <a:ext cx="2743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Plus Jakarta Sans"/>
              </a:rPr>
              <a:t>print(</a:t>
            </a:r>
            <a:r>
              <a:rPr sz="1050" b="0" i="0" u="none">
                <a:solidFill>
                  <a:srgbClr val="A5F3FC"/>
                </a:solidFill>
                <a:latin typeface="Plus Jakarta Sans"/>
              </a:rPr>
              <a:t>"A"</a:t>
            </a:r>
            <a:r>
              <a:rPr sz="1050" b="0" i="0" u="none">
                <a:solidFill>
                  <a:srgbClr val="38BDF8"/>
                </a:solidFill>
                <a:latin typeface="Plus Jakarta Sans"/>
              </a:rPr>
              <a:t>, </a:t>
            </a:r>
            <a:r>
              <a:rPr sz="1050" b="0" i="0" u="none">
                <a:solidFill>
                  <a:srgbClr val="A5F3FC"/>
                </a:solidFill>
                <a:latin typeface="Plus Jakarta Sans"/>
              </a:rPr>
              <a:t>"B"</a:t>
            </a:r>
            <a:r>
              <a:rPr sz="1050" b="0" i="0" u="none">
                <a:solidFill>
                  <a:srgbClr val="38BDF8"/>
                </a:solidFill>
                <a:latin typeface="Plus Jakarta Sans"/>
              </a:rPr>
              <a:t>, sep=</a:t>
            </a:r>
            <a:r>
              <a:rPr sz="1050" b="0" i="0" u="none">
                <a:solidFill>
                  <a:srgbClr val="A5F3FC"/>
                </a:solidFill>
                <a:latin typeface="Plus Jakarta Sans"/>
              </a:rPr>
              <a:t>"-"</a:t>
            </a:r>
            <a:r>
              <a:rPr sz="1050" b="0" i="0" u="none">
                <a:solidFill>
                  <a:srgbClr val="38BDF8"/>
                </a:solidFill>
                <a:latin typeface="Plus Jakarta Sans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067050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f-Strings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419475"/>
            <a:ext cx="304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Clean inline string interpolation replacing legacy string concatenation.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5825" y="4410075"/>
            <a:ext cx="2743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Plus Jakarta Sans"/>
              </a:rPr>
              <a:t>print(f</a:t>
            </a:r>
            <a:r>
              <a:rPr sz="1050" b="0" i="0" u="none">
                <a:solidFill>
                  <a:srgbClr val="A5F3FC"/>
                </a:solidFill>
                <a:latin typeface="Plus Jakarta Sans"/>
              </a:rPr>
              <a:t>"{name} is {age}"</a:t>
            </a:r>
            <a:r>
              <a:rPr sz="1050" b="0" i="0" u="none">
                <a:solidFill>
                  <a:srgbClr val="38BDF8"/>
                </a:solidFill>
                <a:latin typeface="Plus Jakarta Sans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5" y="4410075"/>
            <a:ext cx="3309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A5F3FC"/>
                </a:solidFill>
                <a:latin typeface="JetBrains Mono"/>
              </a:rPr>
              <a:t>print("Score:", </a:t>
            </a:r>
            <a:r>
              <a:rPr sz="1050" b="0" i="0" u="none">
                <a:solidFill>
                  <a:srgbClr val="F472B6"/>
                </a:solidFill>
                <a:latin typeface="JetBrains Mono"/>
              </a:rPr>
              <a:t>95</a:t>
            </a:r>
            <a:r>
              <a:rPr sz="1050" b="0" i="0" u="none">
                <a:solidFill>
                  <a:srgbClr val="A5F3FC"/>
                </a:solidFill>
                <a:latin typeface="JetBrai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2025" y="4410075"/>
            <a:ext cx="3309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A5F3FC"/>
                </a:solidFill>
                <a:latin typeface="JetBrains Mono"/>
              </a:rPr>
              <a:t>print("A", "B", sep="-")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5825" y="4410075"/>
            <a:ext cx="3309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A5F3FC"/>
                </a:solidFill>
                <a:latin typeface="JetBrains Mono"/>
              </a:rPr>
              <a:t>print(f"{name} is {age}")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24162"/>
            <a:ext cx="2478881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40906" y="2824162"/>
            <a:ext cx="2478881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72212" y="2824162"/>
            <a:ext cx="2478881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03518" y="2824162"/>
            <a:ext cx="2478881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167187"/>
            <a:ext cx="3530649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30749" y="4167187"/>
            <a:ext cx="3530649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51899" y="4167187"/>
            <a:ext cx="3530649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095500" y="4595812"/>
            <a:ext cx="609600" cy="200025"/>
          </a:xfrm>
          <a:prstGeom prst="roundRect">
            <a:avLst>
              <a:gd name="adj" fmla="val 190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902249" y="4595812"/>
            <a:ext cx="1447800" cy="200025"/>
          </a:xfrm>
          <a:prstGeom prst="roundRect">
            <a:avLst>
              <a:gd name="adj" fmla="val 190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37724" y="4595812"/>
            <a:ext cx="533400" cy="200025"/>
          </a:xfrm>
          <a:prstGeom prst="roundRect">
            <a:avLst>
              <a:gd name="adj" fmla="val 190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33124" y="4595812"/>
            <a:ext cx="304800" cy="200025"/>
          </a:xfrm>
          <a:prstGeom prst="roundRect">
            <a:avLst>
              <a:gd name="adj" fmla="val 190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781" y="3281362"/>
            <a:ext cx="12382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87" y="3281362"/>
            <a:ext cx="12382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5393" y="3281362"/>
            <a:ext cx="12382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476750"/>
            <a:ext cx="142875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0774" y="4476750"/>
            <a:ext cx="219075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1924" y="4476750"/>
            <a:ext cx="238125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EXECUTION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How Python Runs Your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239" y="3014662"/>
            <a:ext cx="2717601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563EB"/>
                </a:solidFill>
                <a:latin typeface="Plus Jakarta Sans"/>
              </a:rPr>
              <a:t>STEP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1546" y="3014662"/>
            <a:ext cx="2717601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563EB"/>
                </a:solidFill>
                <a:latin typeface="Plus Jakarta Sans"/>
              </a:rPr>
              <a:t>STEP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2852" y="3014662"/>
            <a:ext cx="2717601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563EB"/>
                </a:solidFill>
                <a:latin typeface="Plus Jakarta Sans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4158" y="3014662"/>
            <a:ext cx="2717601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563EB"/>
                </a:solidFill>
                <a:latin typeface="Plus Jakarta Sans"/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807" y="3262312"/>
            <a:ext cx="272846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9771" y="3519487"/>
            <a:ext cx="259853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Source file loaded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6113" y="3262312"/>
            <a:ext cx="272846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Check Syntax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1077" y="3519487"/>
            <a:ext cx="259853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Verifies code 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7420" y="3262312"/>
            <a:ext cx="272846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Translate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2383" y="3519487"/>
            <a:ext cx="259853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Compiles to bytecode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8726" y="3262312"/>
            <a:ext cx="272846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Execute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3689" y="3519487"/>
            <a:ext cx="259853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PVM runs bytecode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900" y="4367212"/>
            <a:ext cx="21002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1. VS Code Runner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4900" y="4586287"/>
            <a:ext cx="2000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Play button 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02249" y="4367212"/>
            <a:ext cx="19002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2. Command 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2449" y="4367212"/>
            <a:ext cx="248781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3. Interactive REPL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2449" y="4586287"/>
            <a:ext cx="23693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Run then enter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33600" y="4614862"/>
            <a:ext cx="6286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JetBrains Mono"/>
              </a:rPr>
              <a:t>Ctrl+F5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40349" y="4614862"/>
            <a:ext cx="14668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JetBrains Mono"/>
              </a:rPr>
              <a:t>python filename.py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5824" y="4614862"/>
            <a:ext cx="552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JetBrains Mono"/>
              </a:rPr>
              <a:t>python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71224" y="4614862"/>
            <a:ext cx="3238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JetBrains Mono"/>
              </a:rPr>
              <a:t>&gt;&gt;&gt;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86012"/>
            <a:ext cx="5381625" cy="3028950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96025" y="2952750"/>
            <a:ext cx="5286375" cy="1895475"/>
          </a:xfrm>
          <a:prstGeom prst="roundRect">
            <a:avLst>
              <a:gd name="adj" fmla="val 804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62725" y="3505200"/>
            <a:ext cx="47529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95550" y="3167062"/>
            <a:ext cx="1266825" cy="257175"/>
          </a:xfrm>
          <a:prstGeom prst="roundRect">
            <a:avLst>
              <a:gd name="adj" fmla="val 14814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981450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4295775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4610100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4924425"/>
            <a:ext cx="1524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EXERCISE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Practice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219450"/>
            <a:ext cx="4848225" cy="1362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A5F3FC"/>
                </a:solidFill>
                <a:latin typeface="Plus Jakarta Sans"/>
              </a:rPr>
              <a:t>Name: Alex Chen University: Stanford University Fav Language: Python Intro: Learning Python to build AI models!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2700337"/>
            <a:ext cx="623827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Write Your First 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157537"/>
            <a:ext cx="484822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Create a file named that outputs your personal details using formatted </a:t>
            </a:r>
            <a:r>
              <a:rPr sz="1350" b="0" i="0" u="none">
                <a:solidFill>
                  <a:srgbClr val="2563EB"/>
                </a:solidFill>
                <a:latin typeface="Plus Jakarta Sans"/>
              </a:rPr>
              <a:t>print()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statements.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219450"/>
            <a:ext cx="48482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JetBrains Mono"/>
              </a:rPr>
              <a:t>Expected Output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3667125"/>
            <a:ext cx="4848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A5F3FC"/>
                </a:solidFill>
                <a:latin typeface="JetBrains Mono"/>
              </a:rPr>
              <a:t>Name: Alex Chen University: Stanford University Fav Language: Python Intro: Learning Python to build AI models!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2700" y="3186112"/>
            <a:ext cx="146923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2563EB"/>
                </a:solidFill>
                <a:latin typeface="JetBrains Mono"/>
              </a:rPr>
              <a:t>about_me.py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0625" y="3957637"/>
            <a:ext cx="1066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Your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0625" y="4271962"/>
            <a:ext cx="13525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Your University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0625" y="4586287"/>
            <a:ext cx="3488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Your Favourite Programming 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0625" y="4900612"/>
            <a:ext cx="22740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A Short Self-Introduction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71737"/>
            <a:ext cx="2571750" cy="289560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471737"/>
            <a:ext cx="2571750" cy="289560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471737"/>
            <a:ext cx="2571750" cy="289560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471737"/>
            <a:ext cx="2571750" cy="289560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78606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278606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2786062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4975" y="2786062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50" y="2909887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2387" y="2909887"/>
            <a:ext cx="18097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8450" y="2909887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2612" y="2909887"/>
            <a:ext cx="16192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Key Takeaways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433762"/>
            <a:ext cx="214026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Readable &amp; Everywhere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4024312"/>
            <a:ext cx="20383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Python is clean, open source, and used across tech, data science, and AI.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4275" y="3433762"/>
            <a:ext cx="255031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Python 3 Standard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4275" y="3786187"/>
            <a:ext cx="20383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Always use Python 3. Python 2 reached end-of-life and is obsolete.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4625" y="3433762"/>
            <a:ext cx="255031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Quick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4625" y="3786187"/>
            <a:ext cx="20383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Install Python, check PATH, pair with VS Code, and start coding instantly.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4975" y="3433762"/>
            <a:ext cx="255031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Start with print()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4975" y="3786187"/>
            <a:ext cx="20383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The fundamental starting point for every program and developer journey.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91000" y="4576762"/>
            <a:ext cx="3810000" cy="447675"/>
          </a:xfrm>
          <a:prstGeom prst="roundRect">
            <a:avLst>
              <a:gd name="adj" fmla="val 2127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1833562"/>
            <a:ext cx="685800" cy="685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687" y="2005012"/>
            <a:ext cx="428625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95575" y="2786062"/>
            <a:ext cx="6800850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lus Jakarta Sans"/>
              </a:rPr>
              <a:t>Questions &amp;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875" y="3567112"/>
            <a:ext cx="8096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Thank you for participating! What would you like to build with Python?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43350" y="4691062"/>
            <a:ext cx="4305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Plus Jakarta Sans"/>
              </a:rPr>
              <a:t>Next Up: Variables, Data Types &amp; Control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721</Words>
  <Application>Microsoft Office PowerPoint</Application>
  <PresentationFormat>Widescreen</PresentationFormat>
  <Paragraphs>151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JetBrains Mono</vt:lpstr>
      <vt:lpstr>Calibri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Noman Traders</cp:lastModifiedBy>
  <cp:revision>2</cp:revision>
  <dcterms:created xsi:type="dcterms:W3CDTF">2013-01-27T09:14:16Z</dcterms:created>
  <dcterms:modified xsi:type="dcterms:W3CDTF">2026-10-05T11:12:14Z</dcterms:modified>
  <cp:category/>
</cp:coreProperties>
</file>